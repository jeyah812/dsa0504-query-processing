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8288000" cy="10287000"/>
  <p:notesSz cx="6858000" cy="9144000"/>
  <p:embeddedFontLst>
    <p:embeddedFont>
      <p:font typeface="IBM Plex Sans Arabic" panose="020B0604020202020204" charset="-78"/>
      <p:regular r:id="rId14"/>
    </p:embeddedFont>
    <p:embeddedFont>
      <p:font typeface="IBM Plex Sans Arabic Bold" panose="020B0604020202020204" charset="-78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597" autoAdjust="0"/>
  </p:normalViewPr>
  <p:slideViewPr>
    <p:cSldViewPr>
      <p:cViewPr varScale="1">
        <p:scale>
          <a:sx n="55" d="100"/>
          <a:sy n="55" d="100"/>
        </p:scale>
        <p:origin x="65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1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5771490"/>
            <a:ext cx="8535135" cy="4515510"/>
          </a:xfrm>
          <a:custGeom>
            <a:avLst/>
            <a:gdLst/>
            <a:ahLst/>
            <a:cxnLst/>
            <a:rect l="l" t="t" r="r" b="b"/>
            <a:pathLst>
              <a:path w="8535135" h="4515510">
                <a:moveTo>
                  <a:pt x="8535135" y="0"/>
                </a:moveTo>
                <a:lnTo>
                  <a:pt x="0" y="0"/>
                </a:lnTo>
                <a:lnTo>
                  <a:pt x="0" y="4515510"/>
                </a:lnTo>
                <a:lnTo>
                  <a:pt x="8535135" y="4515510"/>
                </a:lnTo>
                <a:lnTo>
                  <a:pt x="85351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3373566" y="-332722"/>
            <a:ext cx="8535135" cy="4515510"/>
          </a:xfrm>
          <a:custGeom>
            <a:avLst/>
            <a:gdLst/>
            <a:ahLst/>
            <a:cxnLst/>
            <a:rect l="l" t="t" r="r" b="b"/>
            <a:pathLst>
              <a:path w="8535135" h="4515510">
                <a:moveTo>
                  <a:pt x="0" y="4515510"/>
                </a:moveTo>
                <a:lnTo>
                  <a:pt x="8535135" y="4515510"/>
                </a:lnTo>
                <a:lnTo>
                  <a:pt x="8535135" y="0"/>
                </a:lnTo>
                <a:lnTo>
                  <a:pt x="0" y="0"/>
                </a:lnTo>
                <a:lnTo>
                  <a:pt x="0" y="451551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>
            <a:off x="-1121424" y="-1196930"/>
            <a:ext cx="2860425" cy="4451259"/>
          </a:xfrm>
          <a:custGeom>
            <a:avLst/>
            <a:gdLst/>
            <a:ahLst/>
            <a:cxnLst/>
            <a:rect l="l" t="t" r="r" b="b"/>
            <a:pathLst>
              <a:path w="2860425" h="4451259">
                <a:moveTo>
                  <a:pt x="2860424" y="0"/>
                </a:moveTo>
                <a:lnTo>
                  <a:pt x="0" y="0"/>
                </a:lnTo>
                <a:lnTo>
                  <a:pt x="0" y="4451260"/>
                </a:lnTo>
                <a:lnTo>
                  <a:pt x="2860424" y="4451260"/>
                </a:lnTo>
                <a:lnTo>
                  <a:pt x="286042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4632158" y="6631158"/>
            <a:ext cx="2860425" cy="4451259"/>
          </a:xfrm>
          <a:custGeom>
            <a:avLst/>
            <a:gdLst/>
            <a:ahLst/>
            <a:cxnLst/>
            <a:rect l="l" t="t" r="r" b="b"/>
            <a:pathLst>
              <a:path w="2860425" h="4451259">
                <a:moveTo>
                  <a:pt x="0" y="4451259"/>
                </a:moveTo>
                <a:lnTo>
                  <a:pt x="2860425" y="4451259"/>
                </a:lnTo>
                <a:lnTo>
                  <a:pt x="2860425" y="0"/>
                </a:lnTo>
                <a:lnTo>
                  <a:pt x="0" y="0"/>
                </a:lnTo>
                <a:lnTo>
                  <a:pt x="0" y="44512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87824" y="8414175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6"/>
                </a:lnTo>
                <a:lnTo>
                  <a:pt x="0" y="2371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84056" y="2711851"/>
            <a:ext cx="14693923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Data Exploration and Analysis-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Presentation tools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69943" y="4545940"/>
            <a:ext cx="8522150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DSA0504- QUERY PROCESSING FOR DATA SCIENCE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94639" y="6633753"/>
            <a:ext cx="5400019" cy="171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79"/>
              </a:lnSpc>
            </a:pPr>
            <a:r>
              <a:rPr lang="en-US" sz="23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PRESENTED BY:</a:t>
            </a:r>
          </a:p>
          <a:p>
            <a:pPr algn="r">
              <a:lnSpc>
                <a:spcPts val="4679"/>
              </a:lnSpc>
            </a:pPr>
            <a:r>
              <a:rPr lang="en-US" sz="23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JEYA HARSHINI R (192424051)</a:t>
            </a:r>
          </a:p>
          <a:p>
            <a:pPr algn="r">
              <a:lnSpc>
                <a:spcPts val="4679"/>
              </a:lnSpc>
            </a:pPr>
            <a:endParaRPr lang="en-US" sz="2399" b="1">
              <a:solidFill>
                <a:srgbClr val="415472"/>
              </a:solidFill>
              <a:latin typeface="IBM Plex Sans Arabic Bold"/>
              <a:ea typeface="IBM Plex Sans Arabic Bold"/>
              <a:cs typeface="IBM Plex Sans Arabic Bold"/>
              <a:sym typeface="IBM Plex Sans Arabic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9090025" y="6527844"/>
            <a:ext cx="70952" cy="2410960"/>
            <a:chOff x="0" y="0"/>
            <a:chExt cx="80433" cy="2733132"/>
          </a:xfrm>
        </p:grpSpPr>
        <p:sp>
          <p:nvSpPr>
            <p:cNvPr id="11" name="Freeform 11"/>
            <p:cNvSpPr/>
            <p:nvPr/>
          </p:nvSpPr>
          <p:spPr>
            <a:xfrm>
              <a:off x="8509" y="8509"/>
              <a:ext cx="63500" cy="2716149"/>
            </a:xfrm>
            <a:custGeom>
              <a:avLst/>
              <a:gdLst/>
              <a:ahLst/>
              <a:cxnLst/>
              <a:rect l="l" t="t" r="r" b="b"/>
              <a:pathLst>
                <a:path w="63500" h="2716149">
                  <a:moveTo>
                    <a:pt x="0" y="0"/>
                  </a:moveTo>
                  <a:lnTo>
                    <a:pt x="63500" y="0"/>
                  </a:lnTo>
                  <a:lnTo>
                    <a:pt x="6350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41547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305981" y="6605178"/>
            <a:ext cx="6006009" cy="11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23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GUIDED BY:</a:t>
            </a:r>
          </a:p>
          <a:p>
            <a:pPr algn="l">
              <a:lnSpc>
                <a:spcPts val="4967"/>
              </a:lnSpc>
            </a:pPr>
            <a:r>
              <a:rPr lang="en-US" sz="23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DR MAHESH MUTHULAKSHMI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392170" y="260157"/>
            <a:ext cx="13077696" cy="1792665"/>
            <a:chOff x="0" y="0"/>
            <a:chExt cx="13766781" cy="1887124"/>
          </a:xfrm>
        </p:grpSpPr>
        <p:sp>
          <p:nvSpPr>
            <p:cNvPr id="14" name="Freeform 14"/>
            <p:cNvSpPr/>
            <p:nvPr/>
          </p:nvSpPr>
          <p:spPr>
            <a:xfrm>
              <a:off x="8509" y="8509"/>
              <a:ext cx="13749781" cy="1870202"/>
            </a:xfrm>
            <a:custGeom>
              <a:avLst/>
              <a:gdLst/>
              <a:ahLst/>
              <a:cxnLst/>
              <a:rect l="l" t="t" r="r" b="b"/>
              <a:pathLst>
                <a:path w="13749781" h="1870202">
                  <a:moveTo>
                    <a:pt x="0" y="0"/>
                  </a:moveTo>
                  <a:lnTo>
                    <a:pt x="13749781" y="0"/>
                  </a:lnTo>
                  <a:lnTo>
                    <a:pt x="13749781" y="1870202"/>
                  </a:lnTo>
                  <a:lnTo>
                    <a:pt x="0" y="1870202"/>
                  </a:lnTo>
                  <a:close/>
                </a:path>
              </a:pathLst>
            </a:custGeom>
            <a:blipFill>
              <a:blip r:embed="rId5"/>
              <a:stretch>
                <a:fillRect l="-453" t="-454" r="-452" b="-44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4657421" y="2086883"/>
                </a:moveTo>
                <a:lnTo>
                  <a:pt x="0" y="2086883"/>
                </a:lnTo>
                <a:lnTo>
                  <a:pt x="0" y="0"/>
                </a:lnTo>
                <a:lnTo>
                  <a:pt x="4657421" y="0"/>
                </a:lnTo>
                <a:lnTo>
                  <a:pt x="4657421" y="208688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30579" y="8200117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0" y="0"/>
                </a:moveTo>
                <a:lnTo>
                  <a:pt x="4657421" y="0"/>
                </a:lnTo>
                <a:lnTo>
                  <a:pt x="4657421" y="2086883"/>
                </a:lnTo>
                <a:lnTo>
                  <a:pt x="0" y="2086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43000" y="1243134"/>
            <a:ext cx="16276260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b="1" dirty="0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Where Presentation Tools Fit in Data Exploration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16762876" y="-408273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7"/>
                </a:lnTo>
                <a:lnTo>
                  <a:pt x="0" y="2371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24818" y="8072562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6"/>
                </a:lnTo>
                <a:lnTo>
                  <a:pt x="0" y="2371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46658" y="2743910"/>
            <a:ext cx="13865747" cy="6514390"/>
          </a:xfrm>
          <a:custGeom>
            <a:avLst/>
            <a:gdLst/>
            <a:ahLst/>
            <a:cxnLst/>
            <a:rect l="l" t="t" r="r" b="b"/>
            <a:pathLst>
              <a:path w="13865747" h="6514390">
                <a:moveTo>
                  <a:pt x="0" y="0"/>
                </a:moveTo>
                <a:lnTo>
                  <a:pt x="13865747" y="0"/>
                </a:lnTo>
                <a:lnTo>
                  <a:pt x="13865747" y="6514390"/>
                </a:lnTo>
                <a:lnTo>
                  <a:pt x="0" y="65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155" b="-10470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4657421" y="2086883"/>
                </a:moveTo>
                <a:lnTo>
                  <a:pt x="0" y="2086883"/>
                </a:lnTo>
                <a:lnTo>
                  <a:pt x="0" y="0"/>
                </a:lnTo>
                <a:lnTo>
                  <a:pt x="4657421" y="0"/>
                </a:lnTo>
                <a:lnTo>
                  <a:pt x="4657421" y="208688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30579" y="8200117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0" y="0"/>
                </a:moveTo>
                <a:lnTo>
                  <a:pt x="4657421" y="0"/>
                </a:lnTo>
                <a:lnTo>
                  <a:pt x="4657421" y="2086883"/>
                </a:lnTo>
                <a:lnTo>
                  <a:pt x="0" y="2086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409728" y="717942"/>
            <a:ext cx="9255562" cy="90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What are Presentation Tools?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73591" y="1849203"/>
            <a:ext cx="13340817" cy="901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6579"/>
              </a:lnSpc>
              <a:buFont typeface="Arial"/>
              <a:buChar char="•"/>
            </a:pPr>
            <a:r>
              <a:rPr lang="en-US" sz="27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Definition</a:t>
            </a:r>
          </a:p>
          <a:p>
            <a:pPr marL="1209039" lvl="2" indent="-403013" algn="l">
              <a:lnSpc>
                <a:spcPts val="6579"/>
              </a:lnSpc>
              <a:buFont typeface="Arial"/>
              <a:buChar char="⚬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Presentation tools are software applications that convert analytical results into meaningful visual reports, dashboards, charts, and presentations for effective decision-making.</a:t>
            </a:r>
          </a:p>
          <a:p>
            <a:pPr marL="604519" lvl="1" indent="-302260" algn="l">
              <a:lnSpc>
                <a:spcPts val="6579"/>
              </a:lnSpc>
              <a:buFont typeface="Arial"/>
              <a:buChar char="•"/>
            </a:pPr>
            <a:r>
              <a:rPr lang="en-US" sz="27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Key Functions</a:t>
            </a:r>
          </a:p>
          <a:p>
            <a:pPr marL="1209039" lvl="2" indent="-403013" algn="l">
              <a:lnSpc>
                <a:spcPts val="6579"/>
              </a:lnSpc>
              <a:buFont typeface="Arial"/>
              <a:buChar char="⚬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Present analytical findings</a:t>
            </a:r>
          </a:p>
          <a:p>
            <a:pPr marL="1209039" lvl="2" indent="-403013" algn="l">
              <a:lnSpc>
                <a:spcPts val="6579"/>
              </a:lnSpc>
              <a:buFont typeface="Arial"/>
              <a:buChar char="⚬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Create charts &amp; dashboards</a:t>
            </a:r>
          </a:p>
          <a:p>
            <a:pPr marL="1209039" lvl="2" indent="-403013" algn="l">
              <a:lnSpc>
                <a:spcPts val="6579"/>
              </a:lnSpc>
              <a:buFont typeface="Arial"/>
              <a:buChar char="⚬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Interactive reports</a:t>
            </a:r>
          </a:p>
          <a:p>
            <a:pPr marL="1209039" lvl="2" indent="-403013" algn="l">
              <a:lnSpc>
                <a:spcPts val="6579"/>
              </a:lnSpc>
              <a:buFont typeface="Arial"/>
              <a:buChar char="⚬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Business storytelling</a:t>
            </a:r>
          </a:p>
          <a:p>
            <a:pPr marL="1209039" lvl="2" indent="-403013" algn="l">
              <a:lnSpc>
                <a:spcPts val="6579"/>
              </a:lnSpc>
              <a:buFont typeface="Arial"/>
              <a:buChar char="⚬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Share insights with stakeholders</a:t>
            </a:r>
          </a:p>
          <a:p>
            <a:pPr marL="1209039" lvl="2" indent="-403013" algn="l">
              <a:lnSpc>
                <a:spcPts val="6579"/>
              </a:lnSpc>
              <a:buFont typeface="Arial"/>
              <a:buChar char="⚬"/>
            </a:pPr>
            <a:endParaRPr lang="en-US" sz="2799">
              <a:solidFill>
                <a:srgbClr val="415472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762876" y="-408273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7"/>
                </a:lnTo>
                <a:lnTo>
                  <a:pt x="0" y="2371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424818" y="8072562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6"/>
                </a:lnTo>
                <a:lnTo>
                  <a:pt x="0" y="2371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4657421" y="2086883"/>
                </a:moveTo>
                <a:lnTo>
                  <a:pt x="0" y="2086883"/>
                </a:lnTo>
                <a:lnTo>
                  <a:pt x="0" y="0"/>
                </a:lnTo>
                <a:lnTo>
                  <a:pt x="4657421" y="0"/>
                </a:lnTo>
                <a:lnTo>
                  <a:pt x="4657421" y="208688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30579" y="8200117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0" y="0"/>
                </a:moveTo>
                <a:lnTo>
                  <a:pt x="4657421" y="0"/>
                </a:lnTo>
                <a:lnTo>
                  <a:pt x="4657421" y="2086883"/>
                </a:lnTo>
                <a:lnTo>
                  <a:pt x="0" y="2086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68544" y="777465"/>
            <a:ext cx="11950909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b="1" dirty="0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Advantages of Presentation Tools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73591" y="2077803"/>
            <a:ext cx="13340817" cy="782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✅ Improved Data Visualization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</a:t>
            </a: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Converts complex data into easy-to-understand charts, graphs, and dashboards.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✅ Better Decision Making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Helps managers and stakeholders identify trends and make informed decisions quickly.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✅ Interactive Analysis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</a:t>
            </a: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Allows users to filter, drill down, and explore data dynamically (e.g., Power BI).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✅ Enhanced Communication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Makes it easier to present analytical findings to technical and non-technical audiences.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✅ Time-Saving and Efficient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r>
              <a:rPr lang="en-US" sz="27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</a:t>
            </a: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Automates report generation and simplifies the presentation of large datasets.</a:t>
            </a:r>
          </a:p>
          <a:p>
            <a:pPr marL="1209039" lvl="2" indent="-403013" algn="l">
              <a:lnSpc>
                <a:spcPts val="4199"/>
              </a:lnSpc>
              <a:buFont typeface="Arial"/>
              <a:buChar char="⚬"/>
            </a:pPr>
            <a:endParaRPr lang="en-US" sz="2799">
              <a:solidFill>
                <a:srgbClr val="415472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762876" y="-408273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7"/>
                </a:lnTo>
                <a:lnTo>
                  <a:pt x="0" y="2371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424818" y="8072562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6"/>
                </a:lnTo>
                <a:lnTo>
                  <a:pt x="0" y="2371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4657421" y="2086883"/>
                </a:moveTo>
                <a:lnTo>
                  <a:pt x="0" y="2086883"/>
                </a:lnTo>
                <a:lnTo>
                  <a:pt x="0" y="0"/>
                </a:lnTo>
                <a:lnTo>
                  <a:pt x="4657421" y="0"/>
                </a:lnTo>
                <a:lnTo>
                  <a:pt x="4657421" y="208688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30579" y="8200117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0" y="0"/>
                </a:moveTo>
                <a:lnTo>
                  <a:pt x="4657421" y="0"/>
                </a:lnTo>
                <a:lnTo>
                  <a:pt x="4657421" y="2086883"/>
                </a:lnTo>
                <a:lnTo>
                  <a:pt x="0" y="2086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62876" y="-408273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7"/>
                </a:lnTo>
                <a:lnTo>
                  <a:pt x="0" y="2371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24818" y="8072562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6"/>
                </a:lnTo>
                <a:lnTo>
                  <a:pt x="0" y="2371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62400" y="884879"/>
            <a:ext cx="10661570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b="1" dirty="0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Types of Presentation Tools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AB957F-0651-B885-DEEA-060B5BE57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964870"/>
              </p:ext>
            </p:extLst>
          </p:nvPr>
        </p:nvGraphicFramePr>
        <p:xfrm>
          <a:off x="2063830" y="2086885"/>
          <a:ext cx="14699046" cy="7933415"/>
        </p:xfrm>
        <a:graphic>
          <a:graphicData uri="http://schemas.openxmlformats.org/drawingml/2006/table">
            <a:tbl>
              <a:tblPr/>
              <a:tblGrid>
                <a:gridCol w="7349523">
                  <a:extLst>
                    <a:ext uri="{9D8B030D-6E8A-4147-A177-3AD203B41FA5}">
                      <a16:colId xmlns:a16="http://schemas.microsoft.com/office/drawing/2014/main" val="4067956682"/>
                    </a:ext>
                  </a:extLst>
                </a:gridCol>
                <a:gridCol w="7349523">
                  <a:extLst>
                    <a:ext uri="{9D8B030D-6E8A-4147-A177-3AD203B41FA5}">
                      <a16:colId xmlns:a16="http://schemas.microsoft.com/office/drawing/2014/main" val="2561990698"/>
                    </a:ext>
                  </a:extLst>
                </a:gridCol>
              </a:tblGrid>
              <a:tr h="1133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>
                          <a:solidFill>
                            <a:schemeClr val="tx2"/>
                          </a:solidFill>
                        </a:rPr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>
                          <a:solidFill>
                            <a:schemeClr val="tx2"/>
                          </a:solidFill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878461"/>
                  </a:ext>
                </a:extLst>
              </a:tr>
              <a:tr h="1133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>
                          <a:solidFill>
                            <a:schemeClr val="tx2"/>
                          </a:solidFill>
                        </a:rPr>
                        <a:t>Microsoft Excel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>
                          <a:solidFill>
                            <a:schemeClr val="tx2"/>
                          </a:solidFill>
                        </a:rPr>
                        <a:t>Charts, Pivot Tables,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842340"/>
                  </a:ext>
                </a:extLst>
              </a:tr>
              <a:tr h="1133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>
                          <a:solidFill>
                            <a:schemeClr val="tx2"/>
                          </a:solidFill>
                        </a:rPr>
                        <a:t>Microsoft PowerPoint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>
                          <a:solidFill>
                            <a:schemeClr val="tx2"/>
                          </a:solidFill>
                        </a:rPr>
                        <a:t>Present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196"/>
                  </a:ext>
                </a:extLst>
              </a:tr>
              <a:tr h="1133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>
                          <a:solidFill>
                            <a:schemeClr val="tx2"/>
                          </a:solidFill>
                        </a:rPr>
                        <a:t>Jupyter Notebook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>
                          <a:solidFill>
                            <a:schemeClr val="tx2"/>
                          </a:solidFill>
                        </a:rPr>
                        <a:t>Code + Graphs +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557236"/>
                  </a:ext>
                </a:extLst>
              </a:tr>
              <a:tr h="1133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>
                          <a:solidFill>
                            <a:schemeClr val="tx2"/>
                          </a:solidFill>
                        </a:rPr>
                        <a:t>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>
                          <a:solidFill>
                            <a:schemeClr val="tx2"/>
                          </a:solidFill>
                        </a:rPr>
                        <a:t>Interactive Dashboards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19720"/>
                  </a:ext>
                </a:extLst>
              </a:tr>
              <a:tr h="1133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>
                          <a:solidFill>
                            <a:schemeClr val="tx2"/>
                          </a:solidFill>
                        </a:rPr>
                        <a:t>Tableau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>
                          <a:solidFill>
                            <a:schemeClr val="tx2"/>
                          </a:solidFill>
                        </a:rPr>
                        <a:t>Business Visualization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073367"/>
                  </a:ext>
                </a:extLst>
              </a:tr>
              <a:tr h="1133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>
                          <a:solidFill>
                            <a:schemeClr val="tx2"/>
                          </a:solidFill>
                        </a:rPr>
                        <a:t>Google Looker Studio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>
                          <a:solidFill>
                            <a:schemeClr val="tx2"/>
                          </a:solidFill>
                        </a:rPr>
                        <a:t>Cloud Dashboards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3063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467563"/>
            <a:ext cx="3313441" cy="2819437"/>
          </a:xfrm>
          <a:custGeom>
            <a:avLst/>
            <a:gdLst/>
            <a:ahLst/>
            <a:cxnLst/>
            <a:rect l="l" t="t" r="r" b="b"/>
            <a:pathLst>
              <a:path w="3313441" h="2819437">
                <a:moveTo>
                  <a:pt x="0" y="0"/>
                </a:moveTo>
                <a:lnTo>
                  <a:pt x="3313441" y="0"/>
                </a:lnTo>
                <a:lnTo>
                  <a:pt x="3313441" y="2819437"/>
                </a:lnTo>
                <a:lnTo>
                  <a:pt x="0" y="2819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974559" y="0"/>
            <a:ext cx="3313441" cy="2819437"/>
          </a:xfrm>
          <a:custGeom>
            <a:avLst/>
            <a:gdLst/>
            <a:ahLst/>
            <a:cxnLst/>
            <a:rect l="l" t="t" r="r" b="b"/>
            <a:pathLst>
              <a:path w="3313441" h="2819437">
                <a:moveTo>
                  <a:pt x="3313441" y="2819437"/>
                </a:moveTo>
                <a:lnTo>
                  <a:pt x="0" y="2819437"/>
                </a:lnTo>
                <a:lnTo>
                  <a:pt x="0" y="0"/>
                </a:lnTo>
                <a:lnTo>
                  <a:pt x="3313441" y="0"/>
                </a:lnTo>
                <a:lnTo>
                  <a:pt x="3313441" y="281943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3083"/>
            <a:ext cx="3697435" cy="2049368"/>
          </a:xfrm>
          <a:custGeom>
            <a:avLst/>
            <a:gdLst/>
            <a:ahLst/>
            <a:cxnLst/>
            <a:rect l="l" t="t" r="r" b="b"/>
            <a:pathLst>
              <a:path w="3697435" h="2049368">
                <a:moveTo>
                  <a:pt x="0" y="0"/>
                </a:moveTo>
                <a:lnTo>
                  <a:pt x="3697435" y="0"/>
                </a:lnTo>
                <a:lnTo>
                  <a:pt x="3697435" y="2049368"/>
                </a:lnTo>
                <a:lnTo>
                  <a:pt x="0" y="2049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590565" y="8233616"/>
            <a:ext cx="3697435" cy="2049368"/>
          </a:xfrm>
          <a:custGeom>
            <a:avLst/>
            <a:gdLst/>
            <a:ahLst/>
            <a:cxnLst/>
            <a:rect l="l" t="t" r="r" b="b"/>
            <a:pathLst>
              <a:path w="3697435" h="2049368">
                <a:moveTo>
                  <a:pt x="3697435" y="2049368"/>
                </a:moveTo>
                <a:lnTo>
                  <a:pt x="0" y="2049368"/>
                </a:lnTo>
                <a:lnTo>
                  <a:pt x="0" y="0"/>
                </a:lnTo>
                <a:lnTo>
                  <a:pt x="3697435" y="0"/>
                </a:lnTo>
                <a:lnTo>
                  <a:pt x="3697435" y="204936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805701"/>
            <a:ext cx="5318179" cy="232066"/>
          </a:xfrm>
          <a:custGeom>
            <a:avLst/>
            <a:gdLst/>
            <a:ahLst/>
            <a:cxnLst/>
            <a:rect l="l" t="t" r="r" b="b"/>
            <a:pathLst>
              <a:path w="5318179" h="232066">
                <a:moveTo>
                  <a:pt x="0" y="0"/>
                </a:moveTo>
                <a:lnTo>
                  <a:pt x="5318179" y="0"/>
                </a:lnTo>
                <a:lnTo>
                  <a:pt x="5318179" y="232066"/>
                </a:lnTo>
                <a:lnTo>
                  <a:pt x="0" y="232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969821" y="9258300"/>
            <a:ext cx="5318179" cy="232066"/>
          </a:xfrm>
          <a:custGeom>
            <a:avLst/>
            <a:gdLst/>
            <a:ahLst/>
            <a:cxnLst/>
            <a:rect l="l" t="t" r="r" b="b"/>
            <a:pathLst>
              <a:path w="5318179" h="232066">
                <a:moveTo>
                  <a:pt x="0" y="0"/>
                </a:moveTo>
                <a:lnTo>
                  <a:pt x="5318179" y="0"/>
                </a:lnTo>
                <a:lnTo>
                  <a:pt x="5318179" y="232066"/>
                </a:lnTo>
                <a:lnTo>
                  <a:pt x="0" y="232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7713" y="522564"/>
            <a:ext cx="10900542" cy="4337799"/>
          </a:xfrm>
          <a:custGeom>
            <a:avLst/>
            <a:gdLst/>
            <a:ahLst/>
            <a:cxnLst/>
            <a:rect l="l" t="t" r="r" b="b"/>
            <a:pathLst>
              <a:path w="10900542" h="4337799">
                <a:moveTo>
                  <a:pt x="0" y="0"/>
                </a:moveTo>
                <a:lnTo>
                  <a:pt x="10900542" y="0"/>
                </a:lnTo>
                <a:lnTo>
                  <a:pt x="10900542" y="4337799"/>
                </a:lnTo>
                <a:lnTo>
                  <a:pt x="0" y="4337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48" t="-734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68455" y="5143500"/>
            <a:ext cx="9258640" cy="4513970"/>
          </a:xfrm>
          <a:custGeom>
            <a:avLst/>
            <a:gdLst/>
            <a:ahLst/>
            <a:cxnLst/>
            <a:rect l="l" t="t" r="r" b="b"/>
            <a:pathLst>
              <a:path w="9258640" h="4513970">
                <a:moveTo>
                  <a:pt x="0" y="0"/>
                </a:moveTo>
                <a:lnTo>
                  <a:pt x="9258640" y="0"/>
                </a:lnTo>
                <a:lnTo>
                  <a:pt x="9258640" y="4513970"/>
                </a:lnTo>
                <a:lnTo>
                  <a:pt x="0" y="4513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8402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681806" y="805701"/>
            <a:ext cx="5817519" cy="3386887"/>
          </a:xfrm>
          <a:custGeom>
            <a:avLst/>
            <a:gdLst/>
            <a:ahLst/>
            <a:cxnLst/>
            <a:rect l="l" t="t" r="r" b="b"/>
            <a:pathLst>
              <a:path w="5817519" h="3386887">
                <a:moveTo>
                  <a:pt x="0" y="0"/>
                </a:moveTo>
                <a:lnTo>
                  <a:pt x="5817519" y="0"/>
                </a:lnTo>
                <a:lnTo>
                  <a:pt x="5817519" y="3386888"/>
                </a:lnTo>
                <a:lnTo>
                  <a:pt x="0" y="3386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010" t="-22638" r="-28190" b="-1886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681806" y="4668044"/>
            <a:ext cx="6171045" cy="4590256"/>
          </a:xfrm>
          <a:custGeom>
            <a:avLst/>
            <a:gdLst/>
            <a:ahLst/>
            <a:cxnLst/>
            <a:rect l="l" t="t" r="r" b="b"/>
            <a:pathLst>
              <a:path w="6171045" h="4590256">
                <a:moveTo>
                  <a:pt x="0" y="0"/>
                </a:moveTo>
                <a:lnTo>
                  <a:pt x="6171045" y="0"/>
                </a:lnTo>
                <a:lnTo>
                  <a:pt x="6171045" y="4590256"/>
                </a:lnTo>
                <a:lnTo>
                  <a:pt x="0" y="45902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728" t="-9107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4657421" y="2086883"/>
                </a:moveTo>
                <a:lnTo>
                  <a:pt x="0" y="2086883"/>
                </a:lnTo>
                <a:lnTo>
                  <a:pt x="0" y="0"/>
                </a:lnTo>
                <a:lnTo>
                  <a:pt x="4657421" y="0"/>
                </a:lnTo>
                <a:lnTo>
                  <a:pt x="4657421" y="208688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30579" y="8200117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0" y="0"/>
                </a:moveTo>
                <a:lnTo>
                  <a:pt x="4657421" y="0"/>
                </a:lnTo>
                <a:lnTo>
                  <a:pt x="4657421" y="2086883"/>
                </a:lnTo>
                <a:lnTo>
                  <a:pt x="0" y="2086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62876" y="-408273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7"/>
                </a:lnTo>
                <a:lnTo>
                  <a:pt x="0" y="2371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24818" y="8072562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6"/>
                </a:lnTo>
                <a:lnTo>
                  <a:pt x="0" y="2371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37758" y="173887"/>
            <a:ext cx="7993996" cy="4969613"/>
          </a:xfrm>
          <a:custGeom>
            <a:avLst/>
            <a:gdLst/>
            <a:ahLst/>
            <a:cxnLst/>
            <a:rect l="l" t="t" r="r" b="b"/>
            <a:pathLst>
              <a:path w="7993996" h="4969613">
                <a:moveTo>
                  <a:pt x="0" y="0"/>
                </a:moveTo>
                <a:lnTo>
                  <a:pt x="7993996" y="0"/>
                </a:lnTo>
                <a:lnTo>
                  <a:pt x="7993996" y="4969613"/>
                </a:lnTo>
                <a:lnTo>
                  <a:pt x="0" y="4969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8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85882" y="173887"/>
            <a:ext cx="5090568" cy="4888415"/>
          </a:xfrm>
          <a:custGeom>
            <a:avLst/>
            <a:gdLst/>
            <a:ahLst/>
            <a:cxnLst/>
            <a:rect l="l" t="t" r="r" b="b"/>
            <a:pathLst>
              <a:path w="5090568" h="4888415">
                <a:moveTo>
                  <a:pt x="0" y="0"/>
                </a:moveTo>
                <a:lnTo>
                  <a:pt x="5090568" y="0"/>
                </a:lnTo>
                <a:lnTo>
                  <a:pt x="5090568" y="4888415"/>
                </a:lnTo>
                <a:lnTo>
                  <a:pt x="0" y="4888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79009" y="5300682"/>
            <a:ext cx="4387845" cy="4802585"/>
          </a:xfrm>
          <a:custGeom>
            <a:avLst/>
            <a:gdLst/>
            <a:ahLst/>
            <a:cxnLst/>
            <a:rect l="l" t="t" r="r" b="b"/>
            <a:pathLst>
              <a:path w="4387845" h="4802585">
                <a:moveTo>
                  <a:pt x="0" y="0"/>
                </a:moveTo>
                <a:lnTo>
                  <a:pt x="4387845" y="0"/>
                </a:lnTo>
                <a:lnTo>
                  <a:pt x="4387845" y="4802584"/>
                </a:lnTo>
                <a:lnTo>
                  <a:pt x="0" y="48025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7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630579" y="75984"/>
            <a:ext cx="4734882" cy="5224698"/>
          </a:xfrm>
          <a:custGeom>
            <a:avLst/>
            <a:gdLst/>
            <a:ahLst/>
            <a:cxnLst/>
            <a:rect l="l" t="t" r="r" b="b"/>
            <a:pathLst>
              <a:path w="4734882" h="5224698">
                <a:moveTo>
                  <a:pt x="0" y="0"/>
                </a:moveTo>
                <a:lnTo>
                  <a:pt x="4734882" y="0"/>
                </a:lnTo>
                <a:lnTo>
                  <a:pt x="4734882" y="5224698"/>
                </a:lnTo>
                <a:lnTo>
                  <a:pt x="0" y="52246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365527" y="5122409"/>
            <a:ext cx="5282418" cy="5159130"/>
          </a:xfrm>
          <a:custGeom>
            <a:avLst/>
            <a:gdLst/>
            <a:ahLst/>
            <a:cxnLst/>
            <a:rect l="l" t="t" r="r" b="b"/>
            <a:pathLst>
              <a:path w="5282418" h="5159130">
                <a:moveTo>
                  <a:pt x="0" y="0"/>
                </a:moveTo>
                <a:lnTo>
                  <a:pt x="5282418" y="0"/>
                </a:lnTo>
                <a:lnTo>
                  <a:pt x="5282418" y="5159130"/>
                </a:lnTo>
                <a:lnTo>
                  <a:pt x="0" y="51591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960392" y="5300682"/>
            <a:ext cx="5802484" cy="5143356"/>
          </a:xfrm>
          <a:custGeom>
            <a:avLst/>
            <a:gdLst/>
            <a:ahLst/>
            <a:cxnLst/>
            <a:rect l="l" t="t" r="r" b="b"/>
            <a:pathLst>
              <a:path w="5802484" h="5143356">
                <a:moveTo>
                  <a:pt x="0" y="0"/>
                </a:moveTo>
                <a:lnTo>
                  <a:pt x="5802484" y="0"/>
                </a:lnTo>
                <a:lnTo>
                  <a:pt x="5802484" y="5143356"/>
                </a:lnTo>
                <a:lnTo>
                  <a:pt x="0" y="51433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4657421" y="2086883"/>
                </a:moveTo>
                <a:lnTo>
                  <a:pt x="0" y="2086883"/>
                </a:lnTo>
                <a:lnTo>
                  <a:pt x="0" y="0"/>
                </a:lnTo>
                <a:lnTo>
                  <a:pt x="4657421" y="0"/>
                </a:lnTo>
                <a:lnTo>
                  <a:pt x="4657421" y="208688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30579" y="8200117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0" y="0"/>
                </a:moveTo>
                <a:lnTo>
                  <a:pt x="4657421" y="0"/>
                </a:lnTo>
                <a:lnTo>
                  <a:pt x="4657421" y="2086883"/>
                </a:lnTo>
                <a:lnTo>
                  <a:pt x="0" y="2086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62876" y="-408273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7"/>
                </a:lnTo>
                <a:lnTo>
                  <a:pt x="0" y="2371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24818" y="8072562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6"/>
                </a:lnTo>
                <a:lnTo>
                  <a:pt x="0" y="2371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150660"/>
            <a:ext cx="10934900" cy="3872447"/>
          </a:xfrm>
          <a:custGeom>
            <a:avLst/>
            <a:gdLst/>
            <a:ahLst/>
            <a:cxnLst/>
            <a:rect l="l" t="t" r="r" b="b"/>
            <a:pathLst>
              <a:path w="10934900" h="3872447">
                <a:moveTo>
                  <a:pt x="0" y="0"/>
                </a:moveTo>
                <a:lnTo>
                  <a:pt x="10934900" y="0"/>
                </a:lnTo>
                <a:lnTo>
                  <a:pt x="10934900" y="3872446"/>
                </a:lnTo>
                <a:lnTo>
                  <a:pt x="0" y="387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3866" y="3756445"/>
            <a:ext cx="8347112" cy="5798460"/>
          </a:xfrm>
          <a:custGeom>
            <a:avLst/>
            <a:gdLst/>
            <a:ahLst/>
            <a:cxnLst/>
            <a:rect l="l" t="t" r="r" b="b"/>
            <a:pathLst>
              <a:path w="8347112" h="5798460">
                <a:moveTo>
                  <a:pt x="0" y="0"/>
                </a:moveTo>
                <a:lnTo>
                  <a:pt x="8347111" y="0"/>
                </a:lnTo>
                <a:lnTo>
                  <a:pt x="8347111" y="5798460"/>
                </a:lnTo>
                <a:lnTo>
                  <a:pt x="0" y="5798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98521" y="5168782"/>
            <a:ext cx="5332057" cy="4803448"/>
          </a:xfrm>
          <a:custGeom>
            <a:avLst/>
            <a:gdLst/>
            <a:ahLst/>
            <a:cxnLst/>
            <a:rect l="l" t="t" r="r" b="b"/>
            <a:pathLst>
              <a:path w="5332057" h="4803448">
                <a:moveTo>
                  <a:pt x="0" y="0"/>
                </a:moveTo>
                <a:lnTo>
                  <a:pt x="5332058" y="0"/>
                </a:lnTo>
                <a:lnTo>
                  <a:pt x="5332058" y="4803449"/>
                </a:lnTo>
                <a:lnTo>
                  <a:pt x="0" y="4803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31459" y="150660"/>
            <a:ext cx="5117155" cy="5391289"/>
          </a:xfrm>
          <a:custGeom>
            <a:avLst/>
            <a:gdLst/>
            <a:ahLst/>
            <a:cxnLst/>
            <a:rect l="l" t="t" r="r" b="b"/>
            <a:pathLst>
              <a:path w="5117155" h="5391289">
                <a:moveTo>
                  <a:pt x="0" y="0"/>
                </a:moveTo>
                <a:lnTo>
                  <a:pt x="5117155" y="0"/>
                </a:lnTo>
                <a:lnTo>
                  <a:pt x="5117155" y="5391288"/>
                </a:lnTo>
                <a:lnTo>
                  <a:pt x="0" y="53912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4657421" y="2086883"/>
                </a:moveTo>
                <a:lnTo>
                  <a:pt x="0" y="2086883"/>
                </a:lnTo>
                <a:lnTo>
                  <a:pt x="0" y="0"/>
                </a:lnTo>
                <a:lnTo>
                  <a:pt x="4657421" y="0"/>
                </a:lnTo>
                <a:lnTo>
                  <a:pt x="4657421" y="208688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30579" y="8200117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0" y="0"/>
                </a:moveTo>
                <a:lnTo>
                  <a:pt x="4657421" y="0"/>
                </a:lnTo>
                <a:lnTo>
                  <a:pt x="4657421" y="2086883"/>
                </a:lnTo>
                <a:lnTo>
                  <a:pt x="0" y="2086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62876" y="-408273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7"/>
                </a:lnTo>
                <a:lnTo>
                  <a:pt x="0" y="2371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24818" y="8072562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6"/>
                </a:lnTo>
                <a:lnTo>
                  <a:pt x="0" y="2371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14600" y="1250398"/>
            <a:ext cx="11934944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b="1" dirty="0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Comparison of Presentation Tools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D4C346-3871-9B22-663F-58734E40A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094652"/>
              </p:ext>
            </p:extLst>
          </p:nvPr>
        </p:nvGraphicFramePr>
        <p:xfrm>
          <a:off x="1538785" y="2931478"/>
          <a:ext cx="15238876" cy="6364922"/>
        </p:xfrm>
        <a:graphic>
          <a:graphicData uri="http://schemas.openxmlformats.org/drawingml/2006/table">
            <a:tbl>
              <a:tblPr/>
              <a:tblGrid>
                <a:gridCol w="3809719">
                  <a:extLst>
                    <a:ext uri="{9D8B030D-6E8A-4147-A177-3AD203B41FA5}">
                      <a16:colId xmlns:a16="http://schemas.microsoft.com/office/drawing/2014/main" val="2027701840"/>
                    </a:ext>
                  </a:extLst>
                </a:gridCol>
                <a:gridCol w="3809719">
                  <a:extLst>
                    <a:ext uri="{9D8B030D-6E8A-4147-A177-3AD203B41FA5}">
                      <a16:colId xmlns:a16="http://schemas.microsoft.com/office/drawing/2014/main" val="315151746"/>
                    </a:ext>
                  </a:extLst>
                </a:gridCol>
                <a:gridCol w="3809719">
                  <a:extLst>
                    <a:ext uri="{9D8B030D-6E8A-4147-A177-3AD203B41FA5}">
                      <a16:colId xmlns:a16="http://schemas.microsoft.com/office/drawing/2014/main" val="3785118459"/>
                    </a:ext>
                  </a:extLst>
                </a:gridCol>
                <a:gridCol w="3809719">
                  <a:extLst>
                    <a:ext uri="{9D8B030D-6E8A-4147-A177-3AD203B41FA5}">
                      <a16:colId xmlns:a16="http://schemas.microsoft.com/office/drawing/2014/main" val="4095915510"/>
                    </a:ext>
                  </a:extLst>
                </a:gridCol>
              </a:tblGrid>
              <a:tr h="891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Feature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Microsoft Excel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Google Colab (Jupyter)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chemeClr val="tx2"/>
                          </a:solidFill>
                        </a:rPr>
                        <a:t>Microsoft Power BI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433492"/>
                  </a:ext>
                </a:extLst>
              </a:tr>
              <a:tr h="891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chemeClr val="tx2"/>
                          </a:solidFill>
                        </a:rPr>
                        <a:t>Primary Purpose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Spreadsheet Analysis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Code-based Data Analysis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Business Intelligence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112397"/>
                  </a:ext>
                </a:extLst>
              </a:tr>
              <a:tr h="891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Programming Required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❌ No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✅ Yes (Python)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❌ No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231740"/>
                  </a:ext>
                </a:extLst>
              </a:tr>
              <a:tr h="508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Charts &amp; Graphs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✅ Yes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✅ Yes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✅ Yes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526079"/>
                  </a:ext>
                </a:extLst>
              </a:tr>
              <a:tr h="891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Interactive Dashboards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⚠️ Limited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❌ No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✅ Excellent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531353"/>
                  </a:ext>
                </a:extLst>
              </a:tr>
              <a:tr h="891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Large Dataset Handling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Moderate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Excellent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Excellent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557149"/>
                  </a:ext>
                </a:extLst>
              </a:tr>
              <a:tr h="508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Ease of Use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Easy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Moderate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Easy to Moderate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878912"/>
                  </a:ext>
                </a:extLst>
              </a:tr>
              <a:tr h="891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Best For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Beginners &amp; Reporting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solidFill>
                            <a:schemeClr val="tx2"/>
                          </a:solidFill>
                        </a:rPr>
                        <a:t>Data Scientists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chemeClr val="tx2"/>
                          </a:solidFill>
                        </a:rPr>
                        <a:t>Business Analysts &amp; Managers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625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4657421" y="2086883"/>
                </a:moveTo>
                <a:lnTo>
                  <a:pt x="0" y="2086883"/>
                </a:lnTo>
                <a:lnTo>
                  <a:pt x="0" y="0"/>
                </a:lnTo>
                <a:lnTo>
                  <a:pt x="4657421" y="0"/>
                </a:lnTo>
                <a:lnTo>
                  <a:pt x="4657421" y="208688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30579" y="8200117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0" y="0"/>
                </a:moveTo>
                <a:lnTo>
                  <a:pt x="4657421" y="0"/>
                </a:lnTo>
                <a:lnTo>
                  <a:pt x="4657421" y="2086883"/>
                </a:lnTo>
                <a:lnTo>
                  <a:pt x="0" y="2086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86000" y="1250733"/>
            <a:ext cx="3220413" cy="729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2625" y="2252618"/>
            <a:ext cx="7973661" cy="812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955"/>
              </a:lnSpc>
              <a:buFont typeface="Arial"/>
              <a:buChar char="•"/>
            </a:pPr>
            <a:r>
              <a:rPr lang="en-US" sz="2799" b="1" dirty="0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🏢 Business</a:t>
            </a:r>
          </a:p>
          <a:p>
            <a:pPr marL="1209039" lvl="2" indent="-403013" algn="l">
              <a:lnSpc>
                <a:spcPts val="4955"/>
              </a:lnSpc>
              <a:buFont typeface="Arial"/>
              <a:buChar char="⚬"/>
            </a:pPr>
            <a:r>
              <a:rPr lang="en-US" sz="2799" dirty="0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Sales performance dashboards</a:t>
            </a:r>
          </a:p>
          <a:p>
            <a:pPr marL="1209039" lvl="2" indent="-403013" algn="l">
              <a:lnSpc>
                <a:spcPts val="4955"/>
              </a:lnSpc>
              <a:buFont typeface="Arial"/>
              <a:buChar char="⚬"/>
            </a:pPr>
            <a:r>
              <a:rPr lang="en-US" sz="2799" dirty="0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Revenue and profit analysis</a:t>
            </a:r>
          </a:p>
          <a:p>
            <a:pPr marL="604519" lvl="1" indent="-302260" algn="just">
              <a:lnSpc>
                <a:spcPts val="4955"/>
              </a:lnSpc>
              <a:buFont typeface="Arial"/>
              <a:buChar char="•"/>
            </a:pPr>
            <a:r>
              <a:rPr lang="en-US" sz="2799" b="1" dirty="0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🏥 Healthcare</a:t>
            </a:r>
          </a:p>
          <a:p>
            <a:pPr marL="1209039" lvl="2" indent="-403013" algn="l">
              <a:lnSpc>
                <a:spcPts val="4955"/>
              </a:lnSpc>
              <a:buFont typeface="Arial"/>
              <a:buChar char="⚬"/>
            </a:pPr>
            <a:r>
              <a:rPr lang="en-US" sz="2799" dirty="0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Patient records and disease trend reports</a:t>
            </a:r>
          </a:p>
          <a:p>
            <a:pPr marL="604519" lvl="1" indent="-302260" algn="just">
              <a:lnSpc>
                <a:spcPts val="4955"/>
              </a:lnSpc>
              <a:buFont typeface="Arial"/>
              <a:buChar char="•"/>
            </a:pPr>
            <a:r>
              <a:rPr lang="en-US" sz="2799" b="1" dirty="0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🎓 Education</a:t>
            </a:r>
          </a:p>
          <a:p>
            <a:pPr marL="1209039" lvl="2" indent="-403013" algn="l">
              <a:lnSpc>
                <a:spcPts val="4955"/>
              </a:lnSpc>
              <a:buFont typeface="Arial"/>
              <a:buChar char="⚬"/>
            </a:pPr>
            <a:r>
              <a:rPr lang="en-US" sz="2799" dirty="0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Student performance and attendance analysis</a:t>
            </a:r>
          </a:p>
          <a:p>
            <a:pPr marL="604519" lvl="1" indent="-302260" algn="just">
              <a:lnSpc>
                <a:spcPts val="4955"/>
              </a:lnSpc>
              <a:buFont typeface="Arial"/>
              <a:buChar char="•"/>
            </a:pPr>
            <a:r>
              <a:rPr lang="en-US" sz="2799" b="1" dirty="0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🏦 Banking</a:t>
            </a:r>
          </a:p>
          <a:p>
            <a:pPr marL="1209039" lvl="2" indent="-403013" algn="l">
              <a:lnSpc>
                <a:spcPts val="4955"/>
              </a:lnSpc>
              <a:buFont typeface="Arial"/>
              <a:buChar char="⚬"/>
            </a:pPr>
            <a:r>
              <a:rPr lang="en-US" sz="2799" dirty="0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Loan analysis and fraud monitoring</a:t>
            </a:r>
          </a:p>
          <a:p>
            <a:pPr marL="604519" lvl="1" indent="-302260" algn="just">
              <a:lnSpc>
                <a:spcPts val="4955"/>
              </a:lnSpc>
              <a:buFont typeface="Arial"/>
              <a:buChar char="•"/>
            </a:pPr>
            <a:r>
              <a:rPr lang="en-US" sz="2799" b="1" dirty="0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🚚 Retail &amp; E-commerce</a:t>
            </a:r>
          </a:p>
          <a:p>
            <a:pPr marL="1209039" lvl="2" indent="-403013" algn="l">
              <a:lnSpc>
                <a:spcPts val="4955"/>
              </a:lnSpc>
              <a:buFont typeface="Arial"/>
              <a:buChar char="⚬"/>
            </a:pPr>
            <a:r>
              <a:rPr lang="en-US" sz="2799" dirty="0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Customer behavior and inventory tracking</a:t>
            </a:r>
          </a:p>
          <a:p>
            <a:pPr marL="1209039" lvl="2" indent="-403013" algn="just">
              <a:lnSpc>
                <a:spcPts val="4955"/>
              </a:lnSpc>
              <a:buFont typeface="Arial"/>
              <a:buChar char="⚬"/>
            </a:pPr>
            <a:endParaRPr lang="en-US" sz="2799" dirty="0">
              <a:solidFill>
                <a:srgbClr val="415472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762876" y="-408273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7"/>
                </a:lnTo>
                <a:lnTo>
                  <a:pt x="0" y="2371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085826" y="1250733"/>
            <a:ext cx="2761059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4076" y="2817177"/>
            <a:ext cx="9592327" cy="4309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Converts data into clear visual insights.</a:t>
            </a:r>
          </a:p>
          <a:p>
            <a:pPr marL="604519" lvl="1" indent="-302260" algn="just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Simplifies analysis with charts and dashboards.</a:t>
            </a:r>
          </a:p>
          <a:p>
            <a:pPr marL="604519" lvl="1" indent="-302260" algn="just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Improves communication of results.</a:t>
            </a:r>
          </a:p>
          <a:p>
            <a:pPr marL="604519" lvl="1" indent="-302260" algn="just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Supports faster, data-driven decisions.</a:t>
            </a:r>
          </a:p>
          <a:p>
            <a:pPr marL="604519" lvl="1" indent="-302260" algn="just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41547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Enhances productivity through interactive reporting.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6A792-5A80-9FE9-66A5-06FA1E71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BC161C-F824-E499-E443-F78538A97304}"/>
              </a:ext>
            </a:extLst>
          </p:cNvPr>
          <p:cNvSpPr/>
          <p:nvPr/>
        </p:nvSpPr>
        <p:spPr>
          <a:xfrm flipH="1" flipV="1">
            <a:off x="0" y="0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4657421" y="2086883"/>
                </a:moveTo>
                <a:lnTo>
                  <a:pt x="0" y="2086883"/>
                </a:lnTo>
                <a:lnTo>
                  <a:pt x="0" y="0"/>
                </a:lnTo>
                <a:lnTo>
                  <a:pt x="4657421" y="0"/>
                </a:lnTo>
                <a:lnTo>
                  <a:pt x="4657421" y="208688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946839C-1E18-E8C5-DBB3-C90F376BDB8B}"/>
              </a:ext>
            </a:extLst>
          </p:cNvPr>
          <p:cNvSpPr/>
          <p:nvPr/>
        </p:nvSpPr>
        <p:spPr>
          <a:xfrm>
            <a:off x="13630579" y="8200117"/>
            <a:ext cx="4657421" cy="2086883"/>
          </a:xfrm>
          <a:custGeom>
            <a:avLst/>
            <a:gdLst/>
            <a:ahLst/>
            <a:cxnLst/>
            <a:rect l="l" t="t" r="r" b="b"/>
            <a:pathLst>
              <a:path w="4657421" h="2086883">
                <a:moveTo>
                  <a:pt x="0" y="0"/>
                </a:moveTo>
                <a:lnTo>
                  <a:pt x="4657421" y="0"/>
                </a:lnTo>
                <a:lnTo>
                  <a:pt x="4657421" y="2086883"/>
                </a:lnTo>
                <a:lnTo>
                  <a:pt x="0" y="2086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60F3671-B062-8570-DA04-6CC1F7359F2A}"/>
              </a:ext>
            </a:extLst>
          </p:cNvPr>
          <p:cNvSpPr/>
          <p:nvPr/>
        </p:nvSpPr>
        <p:spPr>
          <a:xfrm>
            <a:off x="16762876" y="-408273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7"/>
                </a:lnTo>
                <a:lnTo>
                  <a:pt x="0" y="2371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45E2D0A-E5C8-E8EB-5AFD-B8022850B372}"/>
              </a:ext>
            </a:extLst>
          </p:cNvPr>
          <p:cNvSpPr txBox="1"/>
          <p:nvPr/>
        </p:nvSpPr>
        <p:spPr>
          <a:xfrm>
            <a:off x="830310" y="5203533"/>
            <a:ext cx="2761059" cy="72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 err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GeoTag</a:t>
            </a:r>
            <a:endParaRPr lang="en-US" sz="4199" b="1" dirty="0">
              <a:solidFill>
                <a:srgbClr val="415472"/>
              </a:solidFill>
              <a:latin typeface="IBM Plex Sans Arabic Bold"/>
              <a:ea typeface="IBM Plex Sans Arabic Bold"/>
              <a:cs typeface="IBM Plex Sans Arabic Bold"/>
              <a:sym typeface="IBM Plex Sans Arabic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ABDAFA-687C-6BD7-0C06-C3536D85D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75" y="0"/>
            <a:ext cx="77152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71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47897"/>
            <a:ext cx="7115745" cy="6546379"/>
          </a:xfrm>
          <a:custGeom>
            <a:avLst/>
            <a:gdLst/>
            <a:ahLst/>
            <a:cxnLst/>
            <a:rect l="l" t="t" r="r" b="b"/>
            <a:pathLst>
              <a:path w="7115745" h="6546379">
                <a:moveTo>
                  <a:pt x="0" y="0"/>
                </a:moveTo>
                <a:lnTo>
                  <a:pt x="7115745" y="0"/>
                </a:lnTo>
                <a:lnTo>
                  <a:pt x="7115745" y="6546380"/>
                </a:lnTo>
                <a:lnTo>
                  <a:pt x="0" y="6546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172255" y="4031780"/>
            <a:ext cx="7115745" cy="6546379"/>
          </a:xfrm>
          <a:custGeom>
            <a:avLst/>
            <a:gdLst/>
            <a:ahLst/>
            <a:cxnLst/>
            <a:rect l="l" t="t" r="r" b="b"/>
            <a:pathLst>
              <a:path w="7115745" h="6546379">
                <a:moveTo>
                  <a:pt x="7115745" y="6546379"/>
                </a:moveTo>
                <a:lnTo>
                  <a:pt x="0" y="6546379"/>
                </a:lnTo>
                <a:lnTo>
                  <a:pt x="0" y="0"/>
                </a:lnTo>
                <a:lnTo>
                  <a:pt x="7115745" y="0"/>
                </a:lnTo>
                <a:lnTo>
                  <a:pt x="7115745" y="654637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2696685" y="0"/>
            <a:ext cx="5591315" cy="2505339"/>
          </a:xfrm>
          <a:custGeom>
            <a:avLst/>
            <a:gdLst/>
            <a:ahLst/>
            <a:cxnLst/>
            <a:rect l="l" t="t" r="r" b="b"/>
            <a:pathLst>
              <a:path w="5591315" h="2505339">
                <a:moveTo>
                  <a:pt x="0" y="2505339"/>
                </a:moveTo>
                <a:lnTo>
                  <a:pt x="5591315" y="2505339"/>
                </a:lnTo>
                <a:lnTo>
                  <a:pt x="5591315" y="0"/>
                </a:lnTo>
                <a:lnTo>
                  <a:pt x="0" y="0"/>
                </a:lnTo>
                <a:lnTo>
                  <a:pt x="0" y="250533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0" y="7781661"/>
            <a:ext cx="5591315" cy="2505339"/>
          </a:xfrm>
          <a:custGeom>
            <a:avLst/>
            <a:gdLst/>
            <a:ahLst/>
            <a:cxnLst/>
            <a:rect l="l" t="t" r="r" b="b"/>
            <a:pathLst>
              <a:path w="5591315" h="2505339">
                <a:moveTo>
                  <a:pt x="5591315" y="0"/>
                </a:moveTo>
                <a:lnTo>
                  <a:pt x="0" y="0"/>
                </a:lnTo>
                <a:lnTo>
                  <a:pt x="0" y="2505339"/>
                </a:lnTo>
                <a:lnTo>
                  <a:pt x="5591315" y="2505339"/>
                </a:lnTo>
                <a:lnTo>
                  <a:pt x="559131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321257" y="3980077"/>
            <a:ext cx="7645487" cy="209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75"/>
              </a:lnSpc>
              <a:spcBef>
                <a:spcPct val="0"/>
              </a:spcBef>
            </a:pPr>
            <a:r>
              <a:rPr lang="en-US" sz="12268" b="1">
                <a:solidFill>
                  <a:srgbClr val="415472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-157038" y="8359191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6"/>
                </a:lnTo>
                <a:lnTo>
                  <a:pt x="0" y="2371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073562" y="-501179"/>
            <a:ext cx="2371476" cy="2371476"/>
          </a:xfrm>
          <a:custGeom>
            <a:avLst/>
            <a:gdLst/>
            <a:ahLst/>
            <a:cxnLst/>
            <a:rect l="l" t="t" r="r" b="b"/>
            <a:pathLst>
              <a:path w="2371476" h="2371476">
                <a:moveTo>
                  <a:pt x="0" y="0"/>
                </a:moveTo>
                <a:lnTo>
                  <a:pt x="2371476" y="0"/>
                </a:lnTo>
                <a:lnTo>
                  <a:pt x="2371476" y="2371477"/>
                </a:lnTo>
                <a:lnTo>
                  <a:pt x="0" y="2371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366</Words>
  <Application>Microsoft Office PowerPoint</Application>
  <PresentationFormat>Custom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IBM Plex Sans Arabic</vt:lpstr>
      <vt:lpstr>Calibri</vt:lpstr>
      <vt:lpstr>Arial</vt:lpstr>
      <vt:lpstr>IBM Plex Sans Arabic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CO3-AT2-TECHNICAL PRESENTATION-JEYAHARSHINIR-192424051</dc:title>
  <dc:creator>Harshini Darshan</dc:creator>
  <cp:lastModifiedBy>Jeya Darshan</cp:lastModifiedBy>
  <cp:revision>4</cp:revision>
  <dcterms:created xsi:type="dcterms:W3CDTF">2006-08-16T00:00:00Z</dcterms:created>
  <dcterms:modified xsi:type="dcterms:W3CDTF">2026-08-05T06:21:18Z</dcterms:modified>
  <dc:identifier>DAHQjNM37-o</dc:identifier>
</cp:coreProperties>
</file>